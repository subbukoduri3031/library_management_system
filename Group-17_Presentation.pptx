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Bodoni"/>
      <p:regular r:id="rId13"/>
      <p:bold r:id="rId14"/>
      <p:italic r:id="rId15"/>
      <p:boldItalic r:id="rId16"/>
    </p:embeddedFon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5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52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Bodoni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Bodoni-italic.fntdata"/><Relationship Id="rId14" Type="http://schemas.openxmlformats.org/officeDocument/2006/relationships/font" Target="fonts/Bodoni-bold.fntdata"/><Relationship Id="rId17" Type="http://schemas.openxmlformats.org/officeDocument/2006/relationships/font" Target="fonts/ArialBlack-regular.fntdata"/><Relationship Id="rId16" Type="http://schemas.openxmlformats.org/officeDocument/2006/relationships/font" Target="fonts/Bodoni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>
            <p:ph idx="2" type="pic"/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" name="Google Shape;17;p2"/>
          <p:cNvSpPr txBox="1"/>
          <p:nvPr>
            <p:ph type="ctrTitle"/>
          </p:nvPr>
        </p:nvSpPr>
        <p:spPr>
          <a:xfrm>
            <a:off x="1005840" y="1901952"/>
            <a:ext cx="4078224" cy="20543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28"/>
              </a:buClr>
              <a:buSzPts val="5400"/>
              <a:buFont typeface="Bodoni"/>
              <a:buNone/>
              <a:defRPr sz="5400">
                <a:solidFill>
                  <a:srgbClr val="00302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005840" y="3995928"/>
            <a:ext cx="4078224" cy="64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28"/>
              </a:buClr>
              <a:buSzPts val="1800"/>
              <a:buNone/>
              <a:defRPr sz="1800">
                <a:solidFill>
                  <a:srgbClr val="003028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600200" y="1261872"/>
            <a:ext cx="7638222" cy="28529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3600"/>
              <a:buFont typeface="Bodon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 cap="none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26" name="Google Shape;26;p3"/>
            <p:cNvSpPr/>
            <p:nvPr/>
          </p:nvSpPr>
          <p:spPr>
            <a:xfrm flipH="1" rot="10800000">
              <a:off x="11619770" y="373807"/>
              <a:ext cx="526228" cy="2930667"/>
            </a:xfrm>
            <a:custGeom>
              <a:rect b="b" l="l" r="r" t="t"/>
              <a:pathLst>
                <a:path extrusionOk="0" h="3694096" w="757287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tile algn="tl" flip="none" tx="0" sx="6000" ty="0" sy="6000"/>
            </a:blipFill>
            <a:ln>
              <a:noFill/>
            </a:ln>
          </p:spPr>
        </p:sp>
        <p:sp>
          <p:nvSpPr>
            <p:cNvPr id="27" name="Google Shape;27;p3"/>
            <p:cNvSpPr/>
            <p:nvPr/>
          </p:nvSpPr>
          <p:spPr>
            <a:xfrm rot="10800000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>
            <p:ph idx="2" type="pic"/>
          </p:nvPr>
        </p:nvSpPr>
        <p:spPr>
          <a:xfrm>
            <a:off x="3133344" y="457200"/>
            <a:ext cx="8599932" cy="59436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 txBox="1"/>
          <p:nvPr>
            <p:ph type="ctrTitle"/>
          </p:nvPr>
        </p:nvSpPr>
        <p:spPr>
          <a:xfrm>
            <a:off x="573024" y="2141919"/>
            <a:ext cx="3167636" cy="20543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5400"/>
              <a:buFont typeface="Bodoni"/>
              <a:buNone/>
              <a:defRPr sz="5400">
                <a:solidFill>
                  <a:srgbClr val="00796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573024" y="4507992"/>
            <a:ext cx="2560320" cy="64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" type="body"/>
          </p:nvPr>
        </p:nvSpPr>
        <p:spPr>
          <a:xfrm>
            <a:off x="1156699" y="4220465"/>
            <a:ext cx="2185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4500"/>
              </a:buClr>
              <a:buSzPts val="2000"/>
              <a:buNone/>
              <a:defRPr b="0" sz="2000">
                <a:solidFill>
                  <a:srgbClr val="EF4500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1156699" y="4707873"/>
            <a:ext cx="2185792" cy="100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3" type="body"/>
          </p:nvPr>
        </p:nvSpPr>
        <p:spPr>
          <a:xfrm>
            <a:off x="3573225" y="4220465"/>
            <a:ext cx="2185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4500"/>
              </a:buClr>
              <a:buSzPts val="2000"/>
              <a:buNone/>
              <a:defRPr b="0" sz="2000">
                <a:solidFill>
                  <a:srgbClr val="EF4500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5"/>
          <p:cNvSpPr txBox="1"/>
          <p:nvPr>
            <p:ph idx="4" type="body"/>
          </p:nvPr>
        </p:nvSpPr>
        <p:spPr>
          <a:xfrm>
            <a:off x="3573225" y="4707873"/>
            <a:ext cx="2185792" cy="100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5" type="body"/>
          </p:nvPr>
        </p:nvSpPr>
        <p:spPr>
          <a:xfrm>
            <a:off x="1156699" y="2491873"/>
            <a:ext cx="2185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4500"/>
              </a:buClr>
              <a:buSzPts val="2000"/>
              <a:buNone/>
              <a:defRPr b="0" sz="2000">
                <a:solidFill>
                  <a:srgbClr val="EF4500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5"/>
          <p:cNvSpPr txBox="1"/>
          <p:nvPr>
            <p:ph idx="6" type="body"/>
          </p:nvPr>
        </p:nvSpPr>
        <p:spPr>
          <a:xfrm>
            <a:off x="1156699" y="2979281"/>
            <a:ext cx="2185792" cy="100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7" type="body"/>
          </p:nvPr>
        </p:nvSpPr>
        <p:spPr>
          <a:xfrm>
            <a:off x="3573225" y="2491873"/>
            <a:ext cx="2185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4500"/>
              </a:buClr>
              <a:buSzPts val="2000"/>
              <a:buNone/>
              <a:defRPr b="0" sz="2000">
                <a:solidFill>
                  <a:srgbClr val="EF4500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5"/>
          <p:cNvSpPr txBox="1"/>
          <p:nvPr>
            <p:ph idx="8" type="body"/>
          </p:nvPr>
        </p:nvSpPr>
        <p:spPr>
          <a:xfrm>
            <a:off x="3573225" y="2979281"/>
            <a:ext cx="2185792" cy="1007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6376988" y="6356350"/>
            <a:ext cx="4445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057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0972800" y="6356350"/>
            <a:ext cx="4902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"/>
          <p:cNvSpPr/>
          <p:nvPr>
            <p:ph idx="9" type="pic"/>
          </p:nvPr>
        </p:nvSpPr>
        <p:spPr>
          <a:xfrm>
            <a:off x="6096001" y="0"/>
            <a:ext cx="5635532" cy="5715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5"/>
          <p:cNvSpPr txBox="1"/>
          <p:nvPr>
            <p:ph type="title"/>
          </p:nvPr>
        </p:nvSpPr>
        <p:spPr>
          <a:xfrm>
            <a:off x="709923" y="1062164"/>
            <a:ext cx="4352862" cy="1062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4400"/>
              <a:buFont typeface="Bodoni"/>
              <a:buNone/>
              <a:defRPr>
                <a:solidFill>
                  <a:srgbClr val="00796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ith image left">
  <p:cSld name="Title and content with image lef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1" y="0"/>
            <a:ext cx="3023615" cy="6858000"/>
          </a:xfrm>
          <a:prstGeom prst="rect">
            <a:avLst/>
          </a:prstGeom>
          <a:solidFill>
            <a:srgbClr val="E6EDE7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6348334" y="1062164"/>
            <a:ext cx="500546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4400"/>
              <a:buFont typeface="Bodoni"/>
              <a:buNone/>
              <a:defRPr>
                <a:solidFill>
                  <a:srgbClr val="00796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6376988" y="3429000"/>
            <a:ext cx="4953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/>
          <p:nvPr>
            <p:ph idx="2" type="pic"/>
          </p:nvPr>
        </p:nvSpPr>
        <p:spPr>
          <a:xfrm>
            <a:off x="458724" y="1062164"/>
            <a:ext cx="5356211" cy="4652836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6"/>
          <p:cNvSpPr txBox="1"/>
          <p:nvPr>
            <p:ph idx="3" type="body"/>
          </p:nvPr>
        </p:nvSpPr>
        <p:spPr>
          <a:xfrm>
            <a:off x="6376988" y="278765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4500"/>
              </a:buClr>
              <a:buSzPts val="2000"/>
              <a:buNone/>
              <a:defRPr b="0" sz="2000">
                <a:solidFill>
                  <a:srgbClr val="EF4500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6376988" y="6356350"/>
            <a:ext cx="4445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057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972800" y="6356350"/>
            <a:ext cx="4902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6"/>
          <p:cNvSpPr txBox="1"/>
          <p:nvPr/>
        </p:nvSpPr>
        <p:spPr>
          <a:xfrm>
            <a:off x="7189940" y="660121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fographic with image">
  <p:cSld name="Infographic with imag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1" type="ftr"/>
          </p:nvPr>
        </p:nvSpPr>
        <p:spPr>
          <a:xfrm>
            <a:off x="6376988" y="6356350"/>
            <a:ext cx="4445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057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0972800" y="6356350"/>
            <a:ext cx="4902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709924" y="1062164"/>
            <a:ext cx="10112564" cy="749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4400"/>
              <a:buFont typeface="Bodoni"/>
              <a:buNone/>
              <a:defRPr>
                <a:solidFill>
                  <a:srgbClr val="00796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4299566" y="4099394"/>
            <a:ext cx="3200400" cy="593574"/>
          </a:xfrm>
          <a:prstGeom prst="rect">
            <a:avLst/>
          </a:prstGeom>
          <a:solidFill>
            <a:srgbClr val="EF4500">
              <a:alpha val="74901"/>
            </a:srgbClr>
          </a:solidFill>
          <a:ln cap="flat" cmpd="sng" w="9525">
            <a:solidFill>
              <a:srgbClr val="E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2" type="body"/>
          </p:nvPr>
        </p:nvSpPr>
        <p:spPr>
          <a:xfrm>
            <a:off x="4301156" y="4692968"/>
            <a:ext cx="3198810" cy="1415162"/>
          </a:xfrm>
          <a:prstGeom prst="rect">
            <a:avLst/>
          </a:prstGeom>
          <a:noFill/>
          <a:ln cap="flat" cmpd="sng" w="9525">
            <a:solidFill>
              <a:srgbClr val="E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182875" spcFirstLastPara="1" rIns="182875" wrap="square" tIns="182875">
            <a:normAutofit/>
          </a:bodyPr>
          <a:lstStyle>
            <a:lvl1pPr indent="-228600" lvl="0" marL="45720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/>
          <p:nvPr>
            <p:ph idx="3" type="pic"/>
          </p:nvPr>
        </p:nvSpPr>
        <p:spPr>
          <a:xfrm>
            <a:off x="7746500" y="1819657"/>
            <a:ext cx="4445500" cy="4288473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7"/>
          <p:cNvSpPr txBox="1"/>
          <p:nvPr>
            <p:ph idx="4" type="body"/>
          </p:nvPr>
        </p:nvSpPr>
        <p:spPr>
          <a:xfrm>
            <a:off x="852633" y="4099394"/>
            <a:ext cx="3200400" cy="593574"/>
          </a:xfrm>
          <a:prstGeom prst="rect">
            <a:avLst/>
          </a:prstGeom>
          <a:solidFill>
            <a:srgbClr val="EF4500">
              <a:alpha val="74901"/>
            </a:srgbClr>
          </a:solidFill>
          <a:ln cap="flat" cmpd="sng" w="9525">
            <a:solidFill>
              <a:srgbClr val="E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5" type="body"/>
          </p:nvPr>
        </p:nvSpPr>
        <p:spPr>
          <a:xfrm>
            <a:off x="854223" y="4692968"/>
            <a:ext cx="3198810" cy="1415162"/>
          </a:xfrm>
          <a:prstGeom prst="rect">
            <a:avLst/>
          </a:prstGeom>
          <a:noFill/>
          <a:ln cap="flat" cmpd="sng" w="9525">
            <a:solidFill>
              <a:srgbClr val="E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182875" spcFirstLastPara="1" rIns="182875" wrap="square" tIns="182875">
            <a:normAutofit/>
          </a:bodyPr>
          <a:lstStyle>
            <a:lvl1pPr indent="-228600" lvl="0" marL="45720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6" type="body"/>
          </p:nvPr>
        </p:nvSpPr>
        <p:spPr>
          <a:xfrm>
            <a:off x="4299566" y="1819657"/>
            <a:ext cx="3200400" cy="593574"/>
          </a:xfrm>
          <a:prstGeom prst="rect">
            <a:avLst/>
          </a:prstGeom>
          <a:solidFill>
            <a:srgbClr val="EF4500">
              <a:alpha val="74901"/>
            </a:srgbClr>
          </a:solidFill>
          <a:ln cap="flat" cmpd="sng" w="9525">
            <a:solidFill>
              <a:srgbClr val="E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7" type="body"/>
          </p:nvPr>
        </p:nvSpPr>
        <p:spPr>
          <a:xfrm>
            <a:off x="4301156" y="2413231"/>
            <a:ext cx="3198810" cy="1415162"/>
          </a:xfrm>
          <a:prstGeom prst="rect">
            <a:avLst/>
          </a:prstGeom>
          <a:noFill/>
          <a:ln cap="flat" cmpd="sng" w="9525">
            <a:solidFill>
              <a:srgbClr val="E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182875" spcFirstLastPara="1" rIns="182875" wrap="square" tIns="182875">
            <a:normAutofit/>
          </a:bodyPr>
          <a:lstStyle>
            <a:lvl1pPr indent="-228600" lvl="0" marL="45720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8" type="body"/>
          </p:nvPr>
        </p:nvSpPr>
        <p:spPr>
          <a:xfrm>
            <a:off x="852633" y="1819657"/>
            <a:ext cx="3200400" cy="593574"/>
          </a:xfrm>
          <a:prstGeom prst="rect">
            <a:avLst/>
          </a:prstGeom>
          <a:solidFill>
            <a:srgbClr val="EF4500">
              <a:alpha val="74901"/>
            </a:srgbClr>
          </a:solidFill>
          <a:ln cap="flat" cmpd="sng" w="9525">
            <a:solidFill>
              <a:srgbClr val="E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0" sz="2000">
                <a:solidFill>
                  <a:schemeClr val="dk1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9" type="body"/>
          </p:nvPr>
        </p:nvSpPr>
        <p:spPr>
          <a:xfrm>
            <a:off x="854223" y="2413231"/>
            <a:ext cx="3198810" cy="1415162"/>
          </a:xfrm>
          <a:prstGeom prst="rect">
            <a:avLst/>
          </a:prstGeom>
          <a:noFill/>
          <a:ln cap="flat" cmpd="sng" w="9525">
            <a:solidFill>
              <a:srgbClr val="EF4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182875" spcFirstLastPara="1" rIns="182875" wrap="square" tIns="182875">
            <a:normAutofit/>
          </a:bodyPr>
          <a:lstStyle>
            <a:lvl1pPr indent="-228600" lvl="0" marL="45720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Three image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6EDE7">
              <a:alpha val="4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 txBox="1"/>
          <p:nvPr>
            <p:ph type="title"/>
          </p:nvPr>
        </p:nvSpPr>
        <p:spPr>
          <a:xfrm>
            <a:off x="838200" y="646614"/>
            <a:ext cx="10515600" cy="10440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4400"/>
              <a:buFont typeface="Bodoni"/>
              <a:buNone/>
              <a:defRPr>
                <a:solidFill>
                  <a:srgbClr val="00796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/>
          <p:nvPr>
            <p:ph idx="2" type="pic"/>
          </p:nvPr>
        </p:nvSpPr>
        <p:spPr>
          <a:xfrm>
            <a:off x="838201" y="1718402"/>
            <a:ext cx="3443883" cy="356616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8"/>
          <p:cNvSpPr txBox="1"/>
          <p:nvPr>
            <p:ph idx="1" type="body"/>
          </p:nvPr>
        </p:nvSpPr>
        <p:spPr>
          <a:xfrm>
            <a:off x="838198" y="5394960"/>
            <a:ext cx="344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4500"/>
              </a:buClr>
              <a:buSzPts val="2000"/>
              <a:buNone/>
              <a:defRPr sz="2000">
                <a:solidFill>
                  <a:srgbClr val="EF4500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3" type="body"/>
          </p:nvPr>
        </p:nvSpPr>
        <p:spPr>
          <a:xfrm>
            <a:off x="838198" y="5779008"/>
            <a:ext cx="344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8"/>
          <p:cNvSpPr/>
          <p:nvPr>
            <p:ph idx="4" type="pic"/>
          </p:nvPr>
        </p:nvSpPr>
        <p:spPr>
          <a:xfrm>
            <a:off x="4374058" y="1718798"/>
            <a:ext cx="3443883" cy="356616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8"/>
          <p:cNvSpPr txBox="1"/>
          <p:nvPr>
            <p:ph idx="5" type="body"/>
          </p:nvPr>
        </p:nvSpPr>
        <p:spPr>
          <a:xfrm>
            <a:off x="4374057" y="5394960"/>
            <a:ext cx="344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4500"/>
              </a:buClr>
              <a:buSzPts val="2000"/>
              <a:buNone/>
              <a:defRPr sz="2000">
                <a:solidFill>
                  <a:srgbClr val="EF4500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6" type="body"/>
          </p:nvPr>
        </p:nvSpPr>
        <p:spPr>
          <a:xfrm>
            <a:off x="4374057" y="5779008"/>
            <a:ext cx="344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8"/>
          <p:cNvSpPr/>
          <p:nvPr>
            <p:ph idx="7" type="pic"/>
          </p:nvPr>
        </p:nvSpPr>
        <p:spPr>
          <a:xfrm>
            <a:off x="7909916" y="1718402"/>
            <a:ext cx="3443883" cy="356616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8"/>
          <p:cNvSpPr txBox="1"/>
          <p:nvPr>
            <p:ph idx="8" type="body"/>
          </p:nvPr>
        </p:nvSpPr>
        <p:spPr>
          <a:xfrm>
            <a:off x="7909915" y="5394960"/>
            <a:ext cx="344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4500"/>
              </a:buClr>
              <a:buSzPts val="2000"/>
              <a:buNone/>
              <a:defRPr sz="2000">
                <a:solidFill>
                  <a:srgbClr val="EF4500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9" type="body"/>
          </p:nvPr>
        </p:nvSpPr>
        <p:spPr>
          <a:xfrm>
            <a:off x="7909915" y="5779008"/>
            <a:ext cx="3443883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400"/>
              <a:buNone/>
              <a:defRPr sz="1400">
                <a:latin typeface="Bodoni"/>
                <a:ea typeface="Bodoni"/>
                <a:cs typeface="Bodoni"/>
                <a:sym typeface="Bodon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8"/>
          <p:cNvSpPr txBox="1"/>
          <p:nvPr>
            <p:ph idx="11" type="ftr"/>
          </p:nvPr>
        </p:nvSpPr>
        <p:spPr>
          <a:xfrm>
            <a:off x="6376988" y="6356350"/>
            <a:ext cx="4445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057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2" type="sldNum"/>
          </p:nvPr>
        </p:nvSpPr>
        <p:spPr>
          <a:xfrm>
            <a:off x="10972800" y="6356350"/>
            <a:ext cx="4902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dget slide">
  <p:cSld name="Budget slid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type="title"/>
          </p:nvPr>
        </p:nvSpPr>
        <p:spPr>
          <a:xfrm>
            <a:off x="838200" y="1062164"/>
            <a:ext cx="2911867" cy="17254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4400"/>
              <a:buFont typeface="Bodoni"/>
              <a:buNone/>
              <a:defRPr>
                <a:solidFill>
                  <a:srgbClr val="00796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838200" y="3989514"/>
            <a:ext cx="10515600" cy="2118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9"/>
          <p:cNvSpPr/>
          <p:nvPr>
            <p:ph idx="2" type="pic"/>
          </p:nvPr>
        </p:nvSpPr>
        <p:spPr>
          <a:xfrm>
            <a:off x="4038600" y="1"/>
            <a:ext cx="7315200" cy="3698696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9"/>
          <p:cNvSpPr txBox="1"/>
          <p:nvPr>
            <p:ph idx="11" type="ftr"/>
          </p:nvPr>
        </p:nvSpPr>
        <p:spPr>
          <a:xfrm>
            <a:off x="6376988" y="6356350"/>
            <a:ext cx="44455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40574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12" type="sldNum"/>
          </p:nvPr>
        </p:nvSpPr>
        <p:spPr>
          <a:xfrm>
            <a:off x="10972800" y="6356350"/>
            <a:ext cx="49025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200" u="none" cap="none" strike="noStrike">
                <a:solidFill>
                  <a:srgbClr val="40574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840">
          <p15:clr>
            <a:srgbClr val="FBAE40"/>
          </p15:clr>
        </p15:guide>
        <p15:guide id="2" pos="52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4400"/>
              <a:buFont typeface="Bodoni"/>
              <a:buNone/>
              <a:defRPr b="0" i="0" sz="4400" u="none" cap="none" strike="noStrike">
                <a:solidFill>
                  <a:srgbClr val="007965"/>
                </a:solidFill>
                <a:latin typeface="Bodoni"/>
                <a:ea typeface="Bodoni"/>
                <a:cs typeface="Bodoni"/>
                <a:sym typeface="Bodo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07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1920">
          <p15:clr>
            <a:srgbClr val="F26B43"/>
          </p15:clr>
        </p15:guide>
        <p15:guide id="4" pos="5760">
          <p15:clr>
            <a:srgbClr val="F26B43"/>
          </p15:clr>
        </p15:guide>
        <p15:guide id="5" pos="7248">
          <p15:clr>
            <a:srgbClr val="F26B43"/>
          </p15:clr>
        </p15:guide>
        <p15:guide id="6" pos="4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oung girl standing at lockers" id="91" name="Google Shape;91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8" l="0" r="0" t="18"/>
          <a:stretch/>
        </p:blipFill>
        <p:spPr>
          <a:xfrm>
            <a:off x="-3093" y="6929"/>
            <a:ext cx="12198187" cy="685568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92" name="Google Shape;92;p10"/>
          <p:cNvSpPr txBox="1"/>
          <p:nvPr>
            <p:ph type="ctrTitle"/>
          </p:nvPr>
        </p:nvSpPr>
        <p:spPr>
          <a:xfrm>
            <a:off x="578658" y="1532497"/>
            <a:ext cx="4915350" cy="20865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b="1" lang="en-US" sz="45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LIBRARY MANAGEMENT SYSTEM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0"/>
          <p:cNvSpPr txBox="1"/>
          <p:nvPr>
            <p:ph idx="1" type="subTitle"/>
          </p:nvPr>
        </p:nvSpPr>
        <p:spPr>
          <a:xfrm>
            <a:off x="578658" y="3926655"/>
            <a:ext cx="4932586" cy="16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028"/>
              </a:buClr>
              <a:buSzPts val="2000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GROUP – 17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3028"/>
              </a:buClr>
              <a:buSzPts val="2000"/>
              <a:buNone/>
            </a:pPr>
            <a:r>
              <a:rPr b="1" lang="en-US" sz="2000"/>
              <a:t>Chandan Byanna Venkatesh – 02167738 – 05 China Subba Rao Koduri – 02190693 – 17 Abhishek Reddy Surkanti – 02187989 – 43</a:t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28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28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3028"/>
              </a:buClr>
              <a:buSzPts val="2000"/>
              <a:buNone/>
            </a:pPr>
            <a:r>
              <a:t/>
            </a:r>
            <a:endParaRPr b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ctrTitle"/>
          </p:nvPr>
        </p:nvSpPr>
        <p:spPr>
          <a:xfrm>
            <a:off x="1600200" y="927054"/>
            <a:ext cx="7638222" cy="924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doni"/>
              <a:buNone/>
            </a:pPr>
            <a:r>
              <a:rPr b="1" lang="en-US">
                <a:solidFill>
                  <a:schemeClr val="dk1"/>
                </a:solidFill>
              </a:rPr>
              <a:t>INTRODUCTION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4/25/2025</a:t>
            </a:r>
            <a:endParaRPr/>
          </a:p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/>
            </a:br>
            <a:r>
              <a:rPr lang="en-US" sz="700"/>
              <a:t>              </a:t>
            </a:r>
            <a:endParaRPr/>
          </a:p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11"/>
          <p:cNvSpPr txBox="1"/>
          <p:nvPr/>
        </p:nvSpPr>
        <p:spPr>
          <a:xfrm>
            <a:off x="1596677" y="2272167"/>
            <a:ext cx="9744809" cy="32560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A GUI-based library management tool developed using Python, Tkinter, and MySQL.</a:t>
            </a:r>
            <a:endParaRPr b="0" i="0" sz="2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Streamlines library operations.</a:t>
            </a:r>
            <a:endParaRPr b="0" i="0" sz="2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Interactive and user-friendly interface.</a:t>
            </a:r>
            <a:endParaRPr b="0" i="0" sz="2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Handles books, users, students, and transactions.</a:t>
            </a:r>
            <a:endParaRPr b="0" i="0" sz="2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>
            <p:ph type="ctrTitle"/>
          </p:nvPr>
        </p:nvSpPr>
        <p:spPr>
          <a:xfrm>
            <a:off x="1600200" y="534509"/>
            <a:ext cx="7638222" cy="924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doni"/>
              <a:buNone/>
            </a:pPr>
            <a:r>
              <a:rPr b="1" lang="en-US">
                <a:solidFill>
                  <a:schemeClr val="dk1"/>
                </a:solidFill>
              </a:rPr>
              <a:t>TECHNOLOGIES USED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4/25/2025</a:t>
            </a:r>
            <a:endParaRPr/>
          </a:p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/>
            </a:br>
            <a:r>
              <a:rPr lang="en-US" sz="700"/>
              <a:t>              </a:t>
            </a:r>
            <a:endParaRPr/>
          </a:p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logo with a snake in a circle&#10;&#10;AI-generated content may be incorrect."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3091" y="1847272"/>
            <a:ext cx="2055092" cy="48721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2"/>
          <p:cNvSpPr txBox="1"/>
          <p:nvPr/>
        </p:nvSpPr>
        <p:spPr>
          <a:xfrm>
            <a:off x="5002586" y="2110531"/>
            <a:ext cx="9744809" cy="67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Python - Used for Backend</a:t>
            </a:r>
            <a:endParaRPr b="1" i="0" sz="2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5002586" y="3784621"/>
            <a:ext cx="9744809" cy="67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Tkinter - GUI of Python for Frontend</a:t>
            </a:r>
            <a:endParaRPr b="1" i="0" sz="2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5002585" y="5585712"/>
            <a:ext cx="974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rgbClr val="007965"/>
                </a:solidFill>
              </a:rPr>
              <a:t>MySQL</a:t>
            </a:r>
            <a:r>
              <a:rPr b="1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 - Database Technology</a:t>
            </a:r>
            <a:endParaRPr b="1" i="0" sz="2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9875" y="5004497"/>
            <a:ext cx="2258291" cy="1613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type="ctrTitle"/>
          </p:nvPr>
        </p:nvSpPr>
        <p:spPr>
          <a:xfrm>
            <a:off x="1600200" y="927054"/>
            <a:ext cx="7638222" cy="924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doni"/>
              <a:buNone/>
            </a:pPr>
            <a:r>
              <a:rPr b="1" lang="en-US">
                <a:solidFill>
                  <a:schemeClr val="dk1"/>
                </a:solidFill>
              </a:rPr>
              <a:t>PURPOSE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4/25/2025</a:t>
            </a:r>
            <a:endParaRPr/>
          </a:p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/>
            </a:br>
            <a:r>
              <a:rPr lang="en-US" sz="700"/>
              <a:t>              </a:t>
            </a:r>
            <a:endParaRPr/>
          </a:p>
        </p:txBody>
      </p:sp>
      <p:sp>
        <p:nvSpPr>
          <p:cNvPr id="123" name="Google Shape;12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1608222" y="2041258"/>
            <a:ext cx="9744809" cy="3417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Courier New"/>
              <a:buChar char="o"/>
            </a:pPr>
            <a:r>
              <a:rPr b="1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Efficiently manage library resources.</a:t>
            </a:r>
            <a:endParaRPr b="1" i="0" sz="1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Courier New"/>
              <a:buChar char="o"/>
            </a:pPr>
            <a:r>
              <a:rPr b="1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Simplify operations: add/edit/remove books.</a:t>
            </a:r>
            <a:endParaRPr b="1" i="0" sz="1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Courier New"/>
              <a:buChar char="o"/>
            </a:pPr>
            <a:r>
              <a:rPr b="1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Maintain student and user records.</a:t>
            </a:r>
            <a:endParaRPr b="1" i="0" sz="1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800"/>
              <a:buFont typeface="Courier New"/>
              <a:buChar char="o"/>
            </a:pPr>
            <a:r>
              <a:rPr b="1" i="0" lang="en-US" sz="28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Track borrow and return transactions.</a:t>
            </a:r>
            <a:endParaRPr b="1" i="0" sz="1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 txBox="1"/>
          <p:nvPr>
            <p:ph type="ctrTitle"/>
          </p:nvPr>
        </p:nvSpPr>
        <p:spPr>
          <a:xfrm>
            <a:off x="1600200" y="927054"/>
            <a:ext cx="7638222" cy="924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doni"/>
              <a:buNone/>
            </a:pPr>
            <a:r>
              <a:rPr b="1" lang="en-US">
                <a:solidFill>
                  <a:schemeClr val="dk1"/>
                </a:solidFill>
              </a:rPr>
              <a:t>MODEL WORKING</a:t>
            </a:r>
            <a:endParaRPr/>
          </a:p>
        </p:txBody>
      </p:sp>
      <p:sp>
        <p:nvSpPr>
          <p:cNvPr id="130" name="Google Shape;1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4/25/2025</a:t>
            </a:r>
            <a:endParaRPr/>
          </a:p>
        </p:txBody>
      </p:sp>
      <p:sp>
        <p:nvSpPr>
          <p:cNvPr id="131" name="Google Shape;1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/>
            </a:br>
            <a:r>
              <a:rPr lang="en-US" sz="700"/>
              <a:t>              </a:t>
            </a:r>
            <a:endParaRPr/>
          </a:p>
        </p:txBody>
      </p:sp>
      <p:sp>
        <p:nvSpPr>
          <p:cNvPr id="132" name="Google Shape;1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1608222" y="2041258"/>
            <a:ext cx="9744809" cy="3912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400"/>
              <a:buFont typeface="Courier New"/>
              <a:buChar char="o"/>
            </a:pPr>
            <a:r>
              <a:rPr b="1" i="0" lang="en-US" sz="24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The Library Management System simplifies everyday tasks of a library.</a:t>
            </a:r>
            <a:endParaRPr b="1" i="0" sz="24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400"/>
              <a:buFont typeface="Courier New"/>
              <a:buChar char="o"/>
            </a:pPr>
            <a:r>
              <a:rPr b="1" i="0" lang="en-US" sz="24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It enables better handling of books, user data, and transactions with a user-friendly interface.</a:t>
            </a:r>
            <a:endParaRPr b="1" i="0" sz="24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400"/>
              <a:buFont typeface="Courier New"/>
              <a:buChar char="o"/>
            </a:pPr>
            <a:r>
              <a:rPr b="1" i="0" lang="en-US" sz="24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Built using Python, Tkinter, and MySQL, this system is a reliable solution for managing a digital library.</a:t>
            </a:r>
            <a:endParaRPr b="1" i="0" sz="24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400"/>
              <a:buFont typeface="Courier New"/>
              <a:buChar char="o"/>
            </a:pPr>
            <a:r>
              <a:rPr b="1" i="0" lang="en-US" sz="24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With future enhancements, it can be extended to serve broader institutional needs.</a:t>
            </a:r>
            <a:endParaRPr b="1" i="0" sz="24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ctrTitle"/>
          </p:nvPr>
        </p:nvSpPr>
        <p:spPr>
          <a:xfrm>
            <a:off x="1600200" y="927054"/>
            <a:ext cx="7638222" cy="9248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odoni"/>
              <a:buNone/>
            </a:pPr>
            <a:r>
              <a:rPr b="1" lang="en-US">
                <a:solidFill>
                  <a:schemeClr val="dk1"/>
                </a:solidFill>
              </a:rPr>
              <a:t>CONCLUSION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39" name="Google Shape;13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4/25/2025</a:t>
            </a:r>
            <a:endParaRPr/>
          </a:p>
        </p:txBody>
      </p:sp>
      <p:sp>
        <p:nvSpPr>
          <p:cNvPr id="140" name="Google Shape;14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700"/>
            </a:br>
            <a:r>
              <a:rPr lang="en-US" sz="700"/>
              <a:t>              </a:t>
            </a:r>
            <a:endParaRPr/>
          </a:p>
        </p:txBody>
      </p:sp>
      <p:sp>
        <p:nvSpPr>
          <p:cNvPr id="141" name="Google Shape;14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608222" y="2041258"/>
            <a:ext cx="9744809" cy="39120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400"/>
              <a:buFont typeface="Courier New"/>
              <a:buChar char="o"/>
            </a:pPr>
            <a:r>
              <a:rPr b="1" i="0" lang="en-US" sz="24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The Library Management System simplifies everyday tasks of a library.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400"/>
              <a:buFont typeface="Courier New"/>
              <a:buChar char="o"/>
            </a:pPr>
            <a:r>
              <a:rPr b="1" i="0" lang="en-US" sz="24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It enables better handling of books, user data, and transactions with a user-friendly interface.</a:t>
            </a:r>
            <a:endParaRPr b="1" i="0" sz="1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400"/>
              <a:buFont typeface="Courier New"/>
              <a:buChar char="o"/>
            </a:pPr>
            <a:r>
              <a:rPr b="1" i="0" lang="en-US" sz="24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Built using Python, Tkinter, and MySQL, this system is a reliable solution for managing a digital library.</a:t>
            </a:r>
            <a:endParaRPr b="1" i="0" sz="1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2400"/>
              <a:buFont typeface="Courier New"/>
              <a:buChar char="o"/>
            </a:pPr>
            <a:r>
              <a:rPr b="1" i="0" lang="en-US" sz="2400" u="none" cap="none" strike="noStrike">
                <a:solidFill>
                  <a:srgbClr val="007965"/>
                </a:solidFill>
                <a:latin typeface="Arial"/>
                <a:ea typeface="Arial"/>
                <a:cs typeface="Arial"/>
                <a:sym typeface="Arial"/>
              </a:rPr>
              <a:t>With future enhancements, it can be extended to serve broader institutional needs.</a:t>
            </a:r>
            <a:endParaRPr b="1" i="0" sz="1800" u="none" cap="none" strike="noStrike">
              <a:solidFill>
                <a:srgbClr val="00796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wo kids holding books at the park" id="147" name="Google Shape;147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734" r="1733" t="0"/>
          <a:stretch/>
        </p:blipFill>
        <p:spPr>
          <a:xfrm>
            <a:off x="3133344" y="457200"/>
            <a:ext cx="8599932" cy="594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>
            <p:ph type="ctrTitle"/>
          </p:nvPr>
        </p:nvSpPr>
        <p:spPr>
          <a:xfrm>
            <a:off x="573024" y="2141919"/>
            <a:ext cx="3167636" cy="20543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65"/>
              </a:buClr>
              <a:buSzPts val="5400"/>
              <a:buFont typeface="Bodoni"/>
              <a:buNone/>
            </a:pPr>
            <a:r>
              <a:rPr b="1"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7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FB09D"/>
      </a:accent1>
      <a:accent2>
        <a:srgbClr val="FFD7C7"/>
      </a:accent2>
      <a:accent3>
        <a:srgbClr val="FFE9E0"/>
      </a:accent3>
      <a:accent4>
        <a:srgbClr val="55736D"/>
      </a:accent4>
      <a:accent5>
        <a:srgbClr val="88A88E"/>
      </a:accent5>
      <a:accent6>
        <a:srgbClr val="E6FFFB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